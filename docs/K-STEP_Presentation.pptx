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2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847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BC12-077B-01B3-90FF-BCB3BD86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39E4E-5090-AA34-BD25-59729B68D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CA11F-7216-D36D-2178-1F6BA7E9D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61655-EC74-44B4-27B3-98D5E4454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865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olished_lifestyle_travel_themed_scene_a_s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2B1D3D">
              <a:alpha val="58000"/>
            </a:srgbClr>
          </a:solidFill>
          <a:ln w="12700">
            <a:solidFill>
              <a:srgbClr val="2B1D3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6384" y="65836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6A4A78"/>
          </a:solidFill>
          <a:ln w="12700">
            <a:solidFill>
              <a:srgbClr val="E9839B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6384" y="70408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</a:rPr>
              <a:t>K-STEP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68680" y="288950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E7EF"/>
                </a:solidFill>
              </a:rPr>
              <a:t>한국 여행 루트를 공유하는 SNS 플랫폼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60704" y="34488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F8F4"/>
                </a:solidFill>
              </a:rPr>
              <a:t>이 다빈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77824" y="3794760"/>
            <a:ext cx="1828800" cy="0"/>
          </a:xfrm>
          <a:prstGeom prst="line">
            <a:avLst/>
          </a:prstGeom>
          <a:noFill/>
          <a:ln w="25400">
            <a:solidFill>
              <a:srgbClr val="F3C7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6217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React · Node.js · Oracle DB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6D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393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1161288"/>
            <a:ext cx="11109960" cy="0"/>
          </a:xfrm>
          <a:prstGeom prst="line">
            <a:avLst/>
          </a:prstGeom>
          <a:noFill/>
          <a:ln w="16510">
            <a:solidFill>
              <a:srgbClr val="B889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1600200"/>
            <a:ext cx="4663440" cy="978408"/>
          </a:xfrm>
          <a:prstGeom prst="roundRect">
            <a:avLst>
              <a:gd name="adj" fmla="val 1682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61288" y="18745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839B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92808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1D3D"/>
                </a:solidFill>
              </a:rPr>
              <a:t>프로젝트 개요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4663440" cy="978408"/>
          </a:xfrm>
          <a:prstGeom prst="roundRect">
            <a:avLst>
              <a:gd name="adj" fmla="val 16822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64808" y="18745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839B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96328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1D3D"/>
                </a:solidFill>
              </a:rPr>
              <a:t>프로젝트 팀 구성 및 역할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0120" y="3044952"/>
            <a:ext cx="4663440" cy="978408"/>
          </a:xfrm>
          <a:prstGeom prst="roundRect">
            <a:avLst>
              <a:gd name="adj" fmla="val 1682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161288" y="33192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839B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892808" y="3319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1D3D"/>
                </a:solidFill>
              </a:rPr>
              <a:t>프로젝트 수행 절차 및 방법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263640" y="3044952"/>
            <a:ext cx="4663440" cy="978408"/>
          </a:xfrm>
          <a:prstGeom prst="roundRect">
            <a:avLst>
              <a:gd name="adj" fmla="val 16822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64808" y="33192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839B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196328" y="3319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1D3D"/>
                </a:solidFill>
              </a:rPr>
              <a:t>프로젝트 수행 경과 및 결과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960120" y="4489704"/>
            <a:ext cx="4663440" cy="978408"/>
          </a:xfrm>
          <a:prstGeom prst="roundRect">
            <a:avLst>
              <a:gd name="adj" fmla="val 1682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61288" y="47640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839B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892808" y="4764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1D3D"/>
                </a:solidFill>
              </a:rPr>
              <a:t>자체 평가 의견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/>
          <p:cNvPicPr>
            <a:picLocks noChangeAspect="1"/>
          </p:cNvPicPr>
          <p:nvPr/>
        </p:nvPicPr>
        <p:blipFill>
          <a:blip r:embed="rId3">
            <a:alphaModFix amt="96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" y="-36576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12064" y="53035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altLang="ko-KR" sz="2000" b="1" dirty="0">
                <a:solidFill>
                  <a:srgbClr val="3F6D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altLang="ko-KR" sz="2000" dirty="0"/>
          </a:p>
          <a:p>
            <a:pPr marL="0" indent="0"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325880" y="360807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2100" b="1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100" b="1" dirty="0" err="1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1124712"/>
            <a:ext cx="11018520" cy="0"/>
          </a:xfrm>
          <a:prstGeom prst="line">
            <a:avLst/>
          </a:prstGeom>
          <a:noFill/>
          <a:ln w="15875">
            <a:solidFill>
              <a:srgbClr val="8E5A9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691640"/>
            <a:ext cx="2011680" cy="3913632"/>
          </a:xfrm>
          <a:prstGeom prst="roundRect">
            <a:avLst>
              <a:gd name="adj" fmla="val 636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7E8"/>
            </a:solidFill>
            <a:prstDash val="solid"/>
          </a:ln>
          <a:effectLst>
            <a:outerShdw blurRad="12700" dist="50800" dir="2700000" algn="bl" rotWithShape="0">
              <a:srgbClr val="7C5A6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389888" y="1517904"/>
            <a:ext cx="384048" cy="329184"/>
          </a:xfrm>
          <a:prstGeom prst="hexagon">
            <a:avLst/>
          </a:prstGeom>
          <a:solidFill>
            <a:srgbClr val="6D4B7B"/>
          </a:solidFill>
          <a:ln w="12700">
            <a:solidFill>
              <a:srgbClr val="6D4B7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89888" y="15864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</a:rPr>
              <a:t>1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740664" y="2221992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4B7B"/>
                </a:solidFill>
              </a:rPr>
              <a:t>주제 및 선정 배경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399032" y="3063240"/>
            <a:ext cx="384048" cy="0"/>
          </a:xfrm>
          <a:prstGeom prst="line">
            <a:avLst/>
          </a:prstGeom>
          <a:noFill/>
          <a:ln w="15240">
            <a:solidFill>
              <a:srgbClr val="6D4B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3392424"/>
            <a:ext cx="160934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여행 사진뿐 아니라 실제 장소와 루트 정보를 함께 공유할 수 있는 SNS가 필요하다고 판단하여 K-STEP을 기획했습니다.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" y="5477256"/>
            <a:ext cx="2011680" cy="128016"/>
          </a:xfrm>
          <a:prstGeom prst="rect">
            <a:avLst/>
          </a:prstGeom>
          <a:solidFill>
            <a:srgbClr val="6D4B7B"/>
          </a:solidFill>
          <a:ln w="12700">
            <a:solidFill>
              <a:srgbClr val="6D4B7B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98648" y="1691640"/>
            <a:ext cx="2011680" cy="3913632"/>
          </a:xfrm>
          <a:prstGeom prst="roundRect">
            <a:avLst>
              <a:gd name="adj" fmla="val 636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7E8"/>
            </a:solidFill>
            <a:prstDash val="solid"/>
          </a:ln>
          <a:effectLst>
            <a:outerShdw blurRad="12700" dist="50800" dir="2700000" algn="bl" rotWithShape="0">
              <a:srgbClr val="7C5A6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94176" y="1517904"/>
            <a:ext cx="384048" cy="329184"/>
          </a:xfrm>
          <a:prstGeom prst="hexagon">
            <a:avLst/>
          </a:prstGeom>
          <a:solidFill>
            <a:srgbClr val="B37AA5"/>
          </a:solidFill>
          <a:ln w="12700">
            <a:solidFill>
              <a:srgbClr val="B37AA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94176" y="15864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</a:rPr>
              <a:t>2</a:t>
            </a:r>
            <a:endParaRPr lang="en-US" sz="870" dirty="0"/>
          </a:p>
        </p:txBody>
      </p:sp>
      <p:sp>
        <p:nvSpPr>
          <p:cNvPr id="19" name="Text 16"/>
          <p:cNvSpPr/>
          <p:nvPr/>
        </p:nvSpPr>
        <p:spPr>
          <a:xfrm>
            <a:off x="3044952" y="2221992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5A98"/>
                </a:solidFill>
              </a:rPr>
              <a:t>프로젝트 내용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703320" y="3063240"/>
            <a:ext cx="384048" cy="0"/>
          </a:xfrm>
          <a:prstGeom prst="line">
            <a:avLst/>
          </a:prstGeom>
          <a:noFill/>
          <a:ln w="15240">
            <a:solidFill>
              <a:srgbClr val="B37AA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99816" y="3392424"/>
            <a:ext cx="160934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400" b="1" dirty="0" err="1">
                <a:latin typeface="Malgun Gothic"/>
              </a:rPr>
              <a:t>회원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유형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선택</a:t>
            </a:r>
            <a:r>
              <a:rPr sz="1400" b="1" dirty="0">
                <a:latin typeface="Malgun Gothic"/>
              </a:rPr>
              <a:t>, </a:t>
            </a:r>
            <a:r>
              <a:rPr sz="1400" b="1" dirty="0" err="1">
                <a:latin typeface="Malgun Gothic"/>
              </a:rPr>
              <a:t>피드</a:t>
            </a:r>
            <a:r>
              <a:rPr sz="1400" b="1" dirty="0">
                <a:latin typeface="Malgun Gothic"/>
              </a:rPr>
              <a:t>, </a:t>
            </a:r>
            <a:r>
              <a:rPr sz="1400" b="1" dirty="0" err="1">
                <a:latin typeface="Malgun Gothic"/>
              </a:rPr>
              <a:t>다중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이미지</a:t>
            </a:r>
            <a:r>
              <a:rPr sz="1400" b="1" dirty="0">
                <a:latin typeface="Malgun Gothic"/>
              </a:rPr>
              <a:t>, </a:t>
            </a:r>
            <a:r>
              <a:rPr sz="1400" b="1" dirty="0" err="1">
                <a:latin typeface="Malgun Gothic"/>
              </a:rPr>
              <a:t>댓글</a:t>
            </a:r>
            <a:r>
              <a:rPr sz="1400" b="1" dirty="0">
                <a:latin typeface="Malgun Gothic"/>
              </a:rPr>
              <a:t>, </a:t>
            </a:r>
            <a:r>
              <a:rPr sz="1400" b="1" dirty="0" err="1">
                <a:latin typeface="Malgun Gothic"/>
              </a:rPr>
              <a:t>좋아요</a:t>
            </a:r>
            <a:r>
              <a:rPr sz="1400" b="1" dirty="0">
                <a:latin typeface="Malgun Gothic"/>
              </a:rPr>
              <a:t>, </a:t>
            </a:r>
            <a:r>
              <a:rPr sz="1400" b="1" dirty="0" err="1">
                <a:latin typeface="Malgun Gothic"/>
              </a:rPr>
              <a:t>저장</a:t>
            </a:r>
            <a:r>
              <a:rPr sz="1400" b="1" dirty="0">
                <a:latin typeface="Malgun Gothic"/>
              </a:rPr>
              <a:t>, </a:t>
            </a:r>
            <a:r>
              <a:rPr sz="1400" b="1" dirty="0" err="1">
                <a:latin typeface="Malgun Gothic"/>
              </a:rPr>
              <a:t>팔로우</a:t>
            </a:r>
            <a:r>
              <a:rPr sz="1400" b="1" dirty="0">
                <a:latin typeface="Malgun Gothic"/>
              </a:rPr>
              <a:t>, </a:t>
            </a:r>
            <a:r>
              <a:rPr sz="1400" b="1" dirty="0" err="1">
                <a:latin typeface="Malgun Gothic"/>
              </a:rPr>
              <a:t>스토리</a:t>
            </a:r>
            <a:r>
              <a:rPr sz="1400" b="1" dirty="0">
                <a:latin typeface="Malgun Gothic"/>
              </a:rPr>
              <a:t>, </a:t>
            </a:r>
            <a:r>
              <a:rPr sz="1400" b="1" dirty="0" err="1">
                <a:latin typeface="Malgun Gothic"/>
              </a:rPr>
              <a:t>채팅</a:t>
            </a:r>
            <a:r>
              <a:rPr sz="1400" b="1" dirty="0">
                <a:latin typeface="Malgun Gothic"/>
              </a:rPr>
              <a:t>, </a:t>
            </a:r>
            <a:r>
              <a:rPr sz="1400" b="1" dirty="0" err="1">
                <a:latin typeface="Malgun Gothic"/>
              </a:rPr>
              <a:t>알림</a:t>
            </a:r>
            <a:r>
              <a:rPr sz="1400" b="1" dirty="0">
                <a:latin typeface="Malgun Gothic"/>
              </a:rPr>
              <a:t>, </a:t>
            </a:r>
            <a:r>
              <a:rPr sz="1400" b="1" dirty="0" err="1">
                <a:latin typeface="Malgun Gothic"/>
              </a:rPr>
              <a:t>광고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기능을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구현했습니다</a:t>
            </a:r>
            <a:r>
              <a:rPr sz="1400" b="1" dirty="0">
                <a:latin typeface="Malgun Gothic"/>
              </a:rPr>
              <a:t>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898648" y="5477256"/>
            <a:ext cx="2011680" cy="128016"/>
          </a:xfrm>
          <a:prstGeom prst="rect">
            <a:avLst/>
          </a:prstGeom>
          <a:solidFill>
            <a:srgbClr val="B37AA5"/>
          </a:solidFill>
          <a:ln w="12700">
            <a:solidFill>
              <a:srgbClr val="B37AA5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02936" y="1691640"/>
            <a:ext cx="2011680" cy="3913632"/>
          </a:xfrm>
          <a:prstGeom prst="roundRect">
            <a:avLst>
              <a:gd name="adj" fmla="val 636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7E8"/>
            </a:solidFill>
            <a:prstDash val="solid"/>
          </a:ln>
          <a:effectLst>
            <a:outerShdw blurRad="12700" dist="50800" dir="2700000" algn="bl" rotWithShape="0">
              <a:srgbClr val="7C5A6A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98464" y="1517904"/>
            <a:ext cx="384048" cy="329184"/>
          </a:xfrm>
          <a:prstGeom prst="hexagon">
            <a:avLst/>
          </a:prstGeom>
          <a:solidFill>
            <a:srgbClr val="6D4B7B"/>
          </a:solidFill>
          <a:ln w="12700">
            <a:solidFill>
              <a:srgbClr val="6D4B7B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98464" y="15864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</a:rPr>
              <a:t>3</a:t>
            </a:r>
            <a:endParaRPr lang="en-US" sz="870" dirty="0"/>
          </a:p>
        </p:txBody>
      </p:sp>
      <p:sp>
        <p:nvSpPr>
          <p:cNvPr id="26" name="Text 23"/>
          <p:cNvSpPr/>
          <p:nvPr/>
        </p:nvSpPr>
        <p:spPr>
          <a:xfrm>
            <a:off x="5349240" y="2221992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4B7B"/>
                </a:solidFill>
              </a:rPr>
              <a:t>활용 장비 및 재료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007608" y="3063240"/>
            <a:ext cx="384048" cy="0"/>
          </a:xfrm>
          <a:prstGeom prst="line">
            <a:avLst/>
          </a:prstGeom>
          <a:noFill/>
          <a:ln w="15240">
            <a:solidFill>
              <a:srgbClr val="6D4B7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04104" y="3392424"/>
            <a:ext cx="160934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/>
              <a:t>React, JavaScript, CSS, Node.js, Express, Oracle DB, SQL Developer, JWT, bcrypt, multer, Pexels API를 사용했습니다.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202936" y="5477256"/>
            <a:ext cx="2011680" cy="128016"/>
          </a:xfrm>
          <a:prstGeom prst="rect">
            <a:avLst/>
          </a:prstGeom>
          <a:solidFill>
            <a:srgbClr val="6D4B7B"/>
          </a:solidFill>
          <a:ln w="12700">
            <a:solidFill>
              <a:srgbClr val="6D4B7B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07224" y="1691640"/>
            <a:ext cx="2011680" cy="3913632"/>
          </a:xfrm>
          <a:prstGeom prst="roundRect">
            <a:avLst>
              <a:gd name="adj" fmla="val 636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7E8"/>
            </a:solidFill>
            <a:prstDash val="solid"/>
          </a:ln>
          <a:effectLst>
            <a:outerShdw blurRad="12700" dist="50800" dir="2700000" algn="bl" rotWithShape="0">
              <a:srgbClr val="7C5A6A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302752" y="1517904"/>
            <a:ext cx="384048" cy="329184"/>
          </a:xfrm>
          <a:prstGeom prst="hexagon">
            <a:avLst/>
          </a:prstGeom>
          <a:solidFill>
            <a:srgbClr val="B37AA5"/>
          </a:solidFill>
          <a:ln w="12700">
            <a:solidFill>
              <a:srgbClr val="B37AA5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02752" y="15864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</a:rPr>
              <a:t>4</a:t>
            </a:r>
            <a:endParaRPr lang="en-US" sz="870" dirty="0"/>
          </a:p>
        </p:txBody>
      </p:sp>
      <p:sp>
        <p:nvSpPr>
          <p:cNvPr id="33" name="Text 30"/>
          <p:cNvSpPr/>
          <p:nvPr/>
        </p:nvSpPr>
        <p:spPr>
          <a:xfrm>
            <a:off x="7653528" y="2221992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5A98"/>
                </a:solidFill>
              </a:rPr>
              <a:t>프로젝트 구조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311896" y="3063240"/>
            <a:ext cx="384048" cy="0"/>
          </a:xfrm>
          <a:prstGeom prst="line">
            <a:avLst/>
          </a:prstGeom>
          <a:noFill/>
          <a:ln w="15240">
            <a:solidFill>
              <a:srgbClr val="B37AA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08392" y="3392424"/>
            <a:ext cx="160934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400" b="1" dirty="0">
                <a:latin typeface="Malgun Gothic"/>
              </a:rPr>
              <a:t>React </a:t>
            </a:r>
            <a:r>
              <a:rPr sz="1400" b="1" dirty="0" err="1">
                <a:latin typeface="Malgun Gothic"/>
              </a:rPr>
              <a:t>프론트엔드</a:t>
            </a:r>
            <a:r>
              <a:rPr sz="1400" b="1" dirty="0">
                <a:latin typeface="Malgun Gothic"/>
              </a:rPr>
              <a:t>, Express </a:t>
            </a:r>
            <a:r>
              <a:rPr sz="1400" b="1" dirty="0" err="1">
                <a:latin typeface="Malgun Gothic"/>
              </a:rPr>
              <a:t>백엔드</a:t>
            </a:r>
            <a:r>
              <a:rPr sz="1400" b="1" dirty="0">
                <a:latin typeface="Malgun Gothic"/>
              </a:rPr>
              <a:t>, Oracle </a:t>
            </a:r>
            <a:r>
              <a:rPr sz="1400" b="1" dirty="0" err="1">
                <a:latin typeface="Malgun Gothic"/>
              </a:rPr>
              <a:t>DB를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연동하고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한국어</a:t>
            </a:r>
            <a:r>
              <a:rPr sz="1400" b="1" dirty="0">
                <a:latin typeface="Malgun Gothic"/>
              </a:rPr>
              <a:t>/</a:t>
            </a:r>
            <a:r>
              <a:rPr sz="1400" b="1" dirty="0" err="1">
                <a:latin typeface="Malgun Gothic"/>
              </a:rPr>
              <a:t>영어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버전을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지원하도록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구성했습니다</a:t>
            </a:r>
            <a:r>
              <a:rPr sz="1400" b="1" dirty="0">
                <a:latin typeface="Malgun Gothic"/>
              </a:rPr>
              <a:t>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507224" y="5477256"/>
            <a:ext cx="2011680" cy="128016"/>
          </a:xfrm>
          <a:prstGeom prst="rect">
            <a:avLst/>
          </a:prstGeom>
          <a:solidFill>
            <a:srgbClr val="B37AA5"/>
          </a:solidFill>
          <a:ln w="12700">
            <a:solidFill>
              <a:srgbClr val="B37AA5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811512" y="1691640"/>
            <a:ext cx="2011680" cy="3913632"/>
          </a:xfrm>
          <a:prstGeom prst="roundRect">
            <a:avLst>
              <a:gd name="adj" fmla="val 636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7E8"/>
            </a:solidFill>
            <a:prstDash val="solid"/>
          </a:ln>
          <a:effectLst>
            <a:outerShdw blurRad="12700" dist="50800" dir="2700000" algn="bl" rotWithShape="0">
              <a:srgbClr val="7C5A6A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10607040" y="1517904"/>
            <a:ext cx="384048" cy="329184"/>
          </a:xfrm>
          <a:prstGeom prst="hexagon">
            <a:avLst/>
          </a:prstGeom>
          <a:solidFill>
            <a:srgbClr val="6D4B7B"/>
          </a:solidFill>
          <a:ln w="12700">
            <a:solidFill>
              <a:srgbClr val="6D4B7B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607040" y="15864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</a:rPr>
              <a:t>5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9957816" y="2221992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4B7B"/>
                </a:solidFill>
              </a:rPr>
              <a:t>활용방안 및 기대 효과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0616184" y="3063240"/>
            <a:ext cx="384048" cy="0"/>
          </a:xfrm>
          <a:prstGeom prst="line">
            <a:avLst/>
          </a:prstGeom>
          <a:noFill/>
          <a:ln w="15240">
            <a:solidFill>
              <a:srgbClr val="6D4B7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012680" y="3392424"/>
            <a:ext cx="160934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400" b="1" dirty="0" err="1">
                <a:latin typeface="Malgun Gothic"/>
              </a:rPr>
              <a:t>한국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여행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루트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공유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서비스로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활용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가능하며</a:t>
            </a:r>
            <a:r>
              <a:rPr sz="1400" b="1" dirty="0">
                <a:latin typeface="Malgun Gothic"/>
              </a:rPr>
              <a:t>, </a:t>
            </a:r>
            <a:r>
              <a:rPr sz="1400" b="1" dirty="0" err="1">
                <a:latin typeface="Malgun Gothic"/>
              </a:rPr>
              <a:t>내국인과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외국인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관광객이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여행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코스를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참고하고</a:t>
            </a:r>
            <a:r>
              <a:rPr sz="1400" b="1" dirty="0">
                <a:latin typeface="Malgun Gothic"/>
              </a:rPr>
              <a:t> </a:t>
            </a:r>
            <a:r>
              <a:rPr sz="1400" b="1" dirty="0" err="1">
                <a:latin typeface="Malgun Gothic"/>
              </a:rPr>
              <a:t>소통할</a:t>
            </a:r>
            <a:r>
              <a:rPr sz="1400" b="1" dirty="0">
                <a:latin typeface="Malgun Gothic"/>
              </a:rPr>
              <a:t> 수 </a:t>
            </a:r>
            <a:r>
              <a:rPr sz="1400" b="1" dirty="0" err="1">
                <a:latin typeface="Malgun Gothic"/>
              </a:rPr>
              <a:t>있습니다</a:t>
            </a:r>
            <a:r>
              <a:rPr sz="1400" b="1" dirty="0">
                <a:latin typeface="Malgun Gothic"/>
              </a:rPr>
              <a:t>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9811512" y="5477256"/>
            <a:ext cx="2011680" cy="128016"/>
          </a:xfrm>
          <a:prstGeom prst="rect">
            <a:avLst/>
          </a:prstGeom>
          <a:solidFill>
            <a:srgbClr val="6D4B7B"/>
          </a:solidFill>
          <a:ln w="12700">
            <a:solidFill>
              <a:srgbClr val="6D4B7B">
                <a:alpha val="0"/>
              </a:srgbClr>
            </a:solidFill>
            <a:prstDash val="solid"/>
          </a:ln>
        </p:spPr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E44601D4-5700-A571-AE13-747AA8EECF76}"/>
              </a:ext>
            </a:extLst>
          </p:cNvPr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1"/>
          <p:cNvSpPr/>
          <p:nvPr/>
        </p:nvSpPr>
        <p:spPr>
          <a:xfrm>
            <a:off x="502920" y="38404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6D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393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팀 구성 및 역할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03504" y="87782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82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r>
              <a:rPr lang="en-US" sz="1400" b="1" dirty="0">
                <a:solidFill>
                  <a:srgbClr val="82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82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1400" b="1" dirty="0">
                <a:solidFill>
                  <a:srgbClr val="82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lang="ko-KR" altLang="en-US" sz="1400" b="1" dirty="0" err="1">
                <a:solidFill>
                  <a:srgbClr val="82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이다빈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161288"/>
            <a:ext cx="11109960" cy="0"/>
          </a:xfrm>
          <a:prstGeom prst="line">
            <a:avLst/>
          </a:prstGeom>
          <a:noFill/>
          <a:ln w="16510">
            <a:solidFill>
              <a:srgbClr val="B8894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172319"/>
              </p:ext>
            </p:extLst>
          </p:nvPr>
        </p:nvGraphicFramePr>
        <p:xfrm>
          <a:off x="777240" y="1463040"/>
          <a:ext cx="10698480" cy="3931920"/>
        </p:xfrm>
        <a:graphic>
          <a:graphicData uri="http://schemas.openxmlformats.org/drawingml/2006/table">
            <a:tbl>
              <a:tblPr/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3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주제 선정, 주요 기능 정의, 화면 흐름 구성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설계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회원·피드·스토리·채팅·광고 테이블 설계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Front-End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 화면, 라우팅, 컴포넌트, CSS 디자인 구현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Back-End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Express API, JWT 인증, 이미지 업로드, Oracle 연동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테스트/정리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수정, DB 백업, README, PPT, 시연 자료 정리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6D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393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수행 절차 및 방법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1161288"/>
            <a:ext cx="11109960" cy="0"/>
          </a:xfrm>
          <a:prstGeom prst="line">
            <a:avLst/>
          </a:prstGeom>
          <a:noFill/>
          <a:ln w="16510">
            <a:solidFill>
              <a:srgbClr val="B889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572768"/>
            <a:ext cx="2331720" cy="1261872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4672" y="173736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839B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35024" y="173736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D3D"/>
                </a:solidFill>
              </a:rPr>
              <a:t>기획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" y="21671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주제 선정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기능 목록 작성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29000" y="1572768"/>
            <a:ext cx="2331720" cy="1261872"/>
          </a:xfrm>
          <a:prstGeom prst="roundRect">
            <a:avLst>
              <a:gd name="adj" fmla="val 13043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93592" y="173736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839B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123944" y="173736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D3D"/>
                </a:solidFill>
              </a:rPr>
              <a:t>DB 설계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30168" y="21671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Oracle 테이블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관계 정의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17920" y="1572768"/>
            <a:ext cx="2331720" cy="1261872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82512" y="173736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839B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12864" y="173736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D3D"/>
                </a:solidFill>
              </a:rPr>
              <a:t>API 구현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19088" y="21671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Express 라우터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JWT·multer 적용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006840" y="1572768"/>
            <a:ext cx="2331720" cy="1261872"/>
          </a:xfrm>
          <a:prstGeom prst="roundRect">
            <a:avLst>
              <a:gd name="adj" fmla="val 13043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171432" y="173736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839B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701784" y="173736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D3D"/>
                </a:solidFill>
              </a:rPr>
              <a:t>화면 구현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208008" y="21671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React 라우팅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컴포넌트 작성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3447288"/>
            <a:ext cx="2331720" cy="1261872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04672" y="361188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839B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335024" y="36118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D3D"/>
                </a:solidFill>
              </a:rPr>
              <a:t>SNS 기능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41248" y="40416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피드·댓글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 err="1">
                <a:solidFill>
                  <a:srgbClr val="827785"/>
                </a:solidFill>
              </a:rPr>
              <a:t>좋아요·저장</a:t>
            </a:r>
            <a:r>
              <a:rPr lang="en-US" sz="1400" b="1" dirty="0">
                <a:solidFill>
                  <a:srgbClr val="827785"/>
                </a:solidFill>
              </a:rPr>
              <a:t> </a:t>
            </a:r>
            <a:r>
              <a:rPr lang="ko-KR" altLang="en-US" sz="1400" b="1" dirty="0">
                <a:solidFill>
                  <a:srgbClr val="827785"/>
                </a:solidFill>
              </a:rPr>
              <a:t>등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429000" y="3447288"/>
            <a:ext cx="2331720" cy="1261872"/>
          </a:xfrm>
          <a:prstGeom prst="roundRect">
            <a:avLst>
              <a:gd name="adj" fmla="val 13043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593592" y="361188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839B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123944" y="36118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D3D"/>
                </a:solidFill>
              </a:rPr>
              <a:t>확장 기능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630168" y="40416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스토리·채팅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알림·광고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217920" y="3447288"/>
            <a:ext cx="2331720" cy="1261872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382512" y="361188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839B"/>
                </a:solidFill>
              </a:rPr>
              <a:t>07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912864" y="36118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D3D"/>
                </a:solidFill>
              </a:rPr>
              <a:t>UI 통일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419088" y="40416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한국적 SNS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디자인 적용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006840" y="3447288"/>
            <a:ext cx="2331720" cy="1261872"/>
          </a:xfrm>
          <a:prstGeom prst="roundRect">
            <a:avLst>
              <a:gd name="adj" fmla="val 13043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9171432" y="361188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839B"/>
                </a:solidFill>
              </a:rPr>
              <a:t>08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9701784" y="36118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D3D"/>
                </a:solidFill>
              </a:rPr>
              <a:t>산출물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9208008" y="40416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DB 백업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827785"/>
                </a:solidFill>
              </a:rPr>
              <a:t>README·PPT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6D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393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수행 경과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1161288"/>
            <a:ext cx="11109960" cy="0"/>
          </a:xfrm>
          <a:prstGeom prst="line">
            <a:avLst/>
          </a:prstGeom>
          <a:noFill/>
          <a:ln w="16510">
            <a:solidFill>
              <a:srgbClr val="B8894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773515"/>
              </p:ext>
            </p:extLst>
          </p:nvPr>
        </p:nvGraphicFramePr>
        <p:xfrm>
          <a:off x="777240" y="1417320"/>
          <a:ext cx="6400800" cy="4343402"/>
        </p:xfrm>
        <a:graphic>
          <a:graphicData uri="http://schemas.openxmlformats.org/drawingml/2006/table">
            <a:tbl>
              <a:tblPr/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수행 경과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회원가입, 로그인, JWT 인증, 비밀번호 암호화, 계정 찾기 구현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 이미지, 여행 루트, 댓글, 좋아요, 저장 기능 구현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 보기, 진행바, 조회 기록, 본 사람 목록, 관리 페이지 구현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팔로우, 채팅, 알림 기능 구현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스폰서 광고 목록, 슬라이드, 저장, 상세 이동 구현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백업, SQL 산출물, README, 발표자료 정리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635240" y="1508760"/>
            <a:ext cx="3520440" cy="4160520"/>
          </a:xfrm>
          <a:prstGeom prst="roundRect">
            <a:avLst>
              <a:gd name="adj" fmla="val 4675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909560" y="1783080"/>
            <a:ext cx="1325880" cy="274320"/>
          </a:xfrm>
          <a:prstGeom prst="roundRect">
            <a:avLst>
              <a:gd name="adj" fmla="val 33333"/>
            </a:avLst>
          </a:prstGeom>
          <a:solidFill>
            <a:srgbClr val="FFF0F5"/>
          </a:solidFill>
          <a:ln w="12700">
            <a:solidFill>
              <a:srgbClr val="EAD4D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 8"/>
          <p:cNvSpPr/>
          <p:nvPr/>
        </p:nvSpPr>
        <p:spPr>
          <a:xfrm>
            <a:off x="7982712" y="1842516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83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백업 결과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955280" y="2249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1D3D"/>
                </a:solidFill>
              </a:rPr>
              <a:t>주요 데이터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001000" y="2697480"/>
            <a:ext cx="25603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회원 61건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피드 68건 / 이미지 120건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댓글 1,283건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좋아요 1,689건 / 저장 887건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팔로우 816건 / 스토리 12건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6D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393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제시 ① 회원 및 홈 피드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03504" y="87782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400" dirty="0" err="1">
                <a:solidFill>
                  <a:srgbClr val="523D53"/>
                </a:solidFill>
                <a:latin typeface="Malgun Gothic"/>
              </a:rPr>
              <a:t>회원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유형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선택부터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홈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피드까지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SNS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핵심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흐름을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한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번에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확인할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수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있도록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구성했습니다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161288"/>
            <a:ext cx="11109960" cy="0"/>
          </a:xfrm>
          <a:prstGeom prst="line">
            <a:avLst/>
          </a:prstGeom>
          <a:noFill/>
          <a:ln w="16510">
            <a:solidFill>
              <a:srgbClr val="B8894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9160" y="1417320"/>
            <a:ext cx="6583680" cy="1901952"/>
          </a:xfrm>
          <a:prstGeom prst="roundRect">
            <a:avLst>
              <a:gd name="adj" fmla="val 8654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56048" y="1664208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FFF0F5"/>
          </a:solidFill>
          <a:ln w="12700">
            <a:solidFill>
              <a:srgbClr val="EAD4DB">
                <a:alpha val="92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1723644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83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기능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983480" y="2040000"/>
            <a:ext cx="5394960" cy="1180000"/>
          </a:xfrm>
          <a:prstGeom prst="rect">
            <a:avLst/>
          </a:prstGeom>
          <a:noFill/>
          <a:ln/>
        </p:spPr>
        <p:txBody>
          <a:bodyPr wrap="square" lIns="254" tIns="0" rIns="254" bIns="0" rtlCol="0" anchor="ctr">
            <a:normAutofit/>
          </a:bodyPr>
          <a:lstStyle/>
          <a:p>
            <a:pPr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회원가입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/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로그인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/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로그아웃</a:t>
            </a:r>
            <a:endParaRPr lang="en-US" sz="1400" dirty="0"/>
          </a:p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3가지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가입자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유형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: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일반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사용자·여행자·가이드</a:t>
            </a:r>
            <a:endParaRPr sz="1400" dirty="0">
              <a:solidFill>
                <a:srgbClr val="523D53"/>
              </a:solidFill>
              <a:latin typeface="Malgun Gothic"/>
            </a:endParaRPr>
          </a:p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한국어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/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영어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버전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지원</a:t>
            </a:r>
            <a:endParaRPr sz="1400" dirty="0">
              <a:solidFill>
                <a:srgbClr val="523D53"/>
              </a:solidFill>
              <a:latin typeface="Malgun Gothic"/>
            </a:endParaRPr>
          </a:p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JWT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인증과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bcrypt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비밀번호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암호화</a:t>
            </a:r>
            <a:endParaRPr sz="1400" dirty="0">
              <a:solidFill>
                <a:srgbClr val="523D53"/>
              </a:solidFill>
              <a:latin typeface="Malgun Gothic"/>
            </a:endParaRPr>
          </a:p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아이디·닉네임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중복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체크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, ID/PW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찾기</a:t>
            </a:r>
            <a:endParaRPr sz="1400" dirty="0">
              <a:solidFill>
                <a:srgbClr val="523D53"/>
              </a:solidFill>
              <a:latin typeface="Malgun Gothic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709160" y="3611880"/>
            <a:ext cx="6583680" cy="1901952"/>
          </a:xfrm>
          <a:prstGeom prst="roundRect">
            <a:avLst>
              <a:gd name="adj" fmla="val 865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956048" y="3858768"/>
            <a:ext cx="1234440" cy="274320"/>
          </a:xfrm>
          <a:prstGeom prst="roundRect">
            <a:avLst>
              <a:gd name="adj" fmla="val 33333"/>
            </a:avLst>
          </a:prstGeom>
          <a:solidFill>
            <a:srgbClr val="FFF0F5"/>
          </a:solidFill>
          <a:ln w="12700">
            <a:solidFill>
              <a:srgbClr val="EAD4DB">
                <a:alpha val="9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0" y="3918204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83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피드 구성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983480" y="4215000"/>
            <a:ext cx="5394960" cy="1160000"/>
          </a:xfrm>
          <a:prstGeom prst="rect">
            <a:avLst/>
          </a:prstGeom>
          <a:noFill/>
          <a:ln/>
        </p:spPr>
        <p:txBody>
          <a:bodyPr wrap="square" lIns="254" tIns="0" rIns="254" bIns="0" rtlCol="0" anchor="ctr">
            <a:normAutofit/>
          </a:bodyPr>
          <a:lstStyle/>
          <a:p>
            <a:pPr marL="0" indent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스토리바와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팔로우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피드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표시</a:t>
            </a:r>
            <a:endParaRPr lang="en-US" sz="1400" dirty="0"/>
          </a:p>
          <a:p>
            <a:pPr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추천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여행자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영역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구성</a:t>
            </a:r>
            <a:endParaRPr sz="1400" dirty="0">
              <a:solidFill>
                <a:srgbClr val="523D53"/>
              </a:solidFill>
              <a:latin typeface="Malgun Gothic"/>
            </a:endParaRPr>
          </a:p>
          <a:p>
            <a:pPr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스폰서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광고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슬라이드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제공</a:t>
            </a:r>
            <a:endParaRPr sz="1400" dirty="0">
              <a:solidFill>
                <a:srgbClr val="523D53"/>
              </a:solidFill>
              <a:latin typeface="Malgun Gothic"/>
            </a:endParaRPr>
          </a:p>
          <a:p>
            <a:pPr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다중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이미지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피드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카드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표시</a:t>
            </a:r>
            <a:endParaRPr sz="1400" dirty="0">
              <a:solidFill>
                <a:srgbClr val="523D53"/>
              </a:solidFill>
              <a:latin typeface="Malgun Gothic"/>
            </a:endParaRPr>
          </a:p>
          <a:p>
            <a:pPr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프로필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/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팔로우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흐름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연결</a:t>
            </a:r>
            <a:endParaRPr sz="1400" dirty="0">
              <a:solidFill>
                <a:srgbClr val="523D53"/>
              </a:solidFill>
              <a:latin typeface="Malgun Gothic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A03F81E1-D997-1B51-81C7-252E7CD13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06" y="4133088"/>
            <a:ext cx="4178217" cy="202806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6A4CA7F-3E22-C52F-1183-E042BEA68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894" y="1299168"/>
            <a:ext cx="2830754" cy="2646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6D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393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제시 ② 피드·루트·반응 기능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03504" y="87782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400" dirty="0" err="1">
                <a:solidFill>
                  <a:srgbClr val="523D53"/>
                </a:solidFill>
                <a:latin typeface="Malgun Gothic"/>
              </a:rPr>
              <a:t>단순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사진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공유가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아니라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여행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사진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,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장소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,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루트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,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사용자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반응을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함께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기록하도록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구현했습니다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161288"/>
            <a:ext cx="11109960" cy="0"/>
          </a:xfrm>
          <a:prstGeom prst="line">
            <a:avLst/>
          </a:prstGeom>
          <a:noFill/>
          <a:ln w="16510">
            <a:solidFill>
              <a:srgbClr val="B889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00200"/>
            <a:ext cx="3246120" cy="3977640"/>
          </a:xfrm>
          <a:prstGeom prst="roundRect">
            <a:avLst>
              <a:gd name="adj" fmla="val 507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1865376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FFF0F5"/>
          </a:solidFill>
          <a:ln w="12700">
            <a:solidFill>
              <a:srgbClr val="EAD4DB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924812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83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 작성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1" y="2395728"/>
            <a:ext cx="255164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제목·내용·지역·카테고리 입력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해시태그와 루트 요약 작성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여러 장 이미지 업로드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80560" y="1600200"/>
            <a:ext cx="3246120" cy="3977640"/>
          </a:xfrm>
          <a:prstGeom prst="roundRect">
            <a:avLst>
              <a:gd name="adj" fmla="val 5070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865376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FFF0F5"/>
          </a:solidFill>
          <a:ln w="12700">
            <a:solidFill>
              <a:srgbClr val="EAD4DB">
                <a:alpha val="9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82312" y="1924812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83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 상세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46320" y="2395728"/>
            <a:ext cx="23317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이미지 갤러리 표시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장소명·주소·메모 표시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지도 iframe으로 위치 확인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83880" y="1600200"/>
            <a:ext cx="3246120" cy="3977640"/>
          </a:xfrm>
          <a:prstGeom prst="roundRect">
            <a:avLst>
              <a:gd name="adj" fmla="val 507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12480" y="1865376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FFF0F5"/>
          </a:solidFill>
          <a:ln w="12700">
            <a:solidFill>
              <a:srgbClr val="EAD4DB">
                <a:alpha val="9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85632" y="1924812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83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기능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49640" y="2395728"/>
            <a:ext cx="23317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댓글 작성 및 삭제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좋아요 등록/취소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피드 저장/취소와 카운트 반영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17CEB77-A6B1-2E4B-B0BB-D0D60BA59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89" y="3570306"/>
            <a:ext cx="2935621" cy="176507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0A889C6-7E97-C739-60BD-81B2B6F1D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1099" y="3584448"/>
            <a:ext cx="3105042" cy="18288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0C06CBB-A8B2-B00D-95D9-65D928BE17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4616" y="3398853"/>
            <a:ext cx="1441768" cy="20143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6D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393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제시 ③ 스토리 및 스토리 관리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03504" y="87782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2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분위기를 강화하기 위해 스토리 보기와 관리 기능을 구현했습니다.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161288"/>
            <a:ext cx="11109960" cy="0"/>
          </a:xfrm>
          <a:prstGeom prst="line">
            <a:avLst/>
          </a:prstGeom>
          <a:noFill/>
          <a:ln w="16510">
            <a:solidFill>
              <a:srgbClr val="B8894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897880" y="1417320"/>
            <a:ext cx="5440680" cy="1353312"/>
          </a:xfrm>
          <a:prstGeom prst="roundRect">
            <a:avLst>
              <a:gd name="adj" fmla="val 1216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172200" y="1664208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FFF0F5"/>
          </a:solidFill>
          <a:ln w="12700">
            <a:solidFill>
              <a:srgbClr val="EAD4DB">
                <a:alpha val="92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45352" y="1723644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83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 보기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17920" y="2039112"/>
            <a:ext cx="4480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진행바 표시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본 스토리 / 안 본 스토리 구분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조회 기록 저장 및 본 사람 목록 표시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97880" y="3063240"/>
            <a:ext cx="5440680" cy="1353312"/>
          </a:xfrm>
          <a:prstGeom prst="roundRect">
            <a:avLst>
              <a:gd name="adj" fmla="val 12162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3310128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FFF0F5"/>
          </a:solidFill>
          <a:ln w="12700">
            <a:solidFill>
              <a:srgbClr val="EAD4DB">
                <a:alpha val="92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45352" y="3369564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83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 관리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217920" y="3685032"/>
            <a:ext cx="4480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현재 공개 중 / 지난 스토리 구분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스토리 삭제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조회수와 만료 상태 확인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897880" y="4709160"/>
            <a:ext cx="5440680" cy="1051560"/>
          </a:xfrm>
          <a:prstGeom prst="roundRect">
            <a:avLst>
              <a:gd name="adj" fmla="val 1565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4919472"/>
            <a:ext cx="1307592" cy="274320"/>
          </a:xfrm>
          <a:prstGeom prst="roundRect">
            <a:avLst>
              <a:gd name="adj" fmla="val 33333"/>
            </a:avLst>
          </a:prstGeom>
          <a:solidFill>
            <a:srgbClr val="FFF0F5"/>
          </a:solidFill>
          <a:ln w="12700">
            <a:solidFill>
              <a:srgbClr val="EAD4DB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Text 16"/>
          <p:cNvSpPr/>
          <p:nvPr/>
        </p:nvSpPr>
        <p:spPr>
          <a:xfrm>
            <a:off x="6245352" y="497890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83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 꾸미기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263640" y="5321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27785"/>
                </a:solidFill>
              </a:rPr>
              <a:t>사진 선택 후 글을 추가하고, 위치를 드래그하여 스토리 위에 배치할 수 있도록 구현했습니다.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7A78159-45FA-AE04-7B38-E235D8639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370" y="1261872"/>
            <a:ext cx="3595830" cy="236369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5DF660C-1A74-1419-06E3-471D0C04E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81871"/>
            <a:ext cx="2263491" cy="269266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2F94378-E59A-7098-71B9-BBC88892D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7891" y="3875495"/>
            <a:ext cx="2536055" cy="26990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6D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393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제시 ④ 채팅·알림·광고·DB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1161288"/>
            <a:ext cx="11109960" cy="0"/>
          </a:xfrm>
          <a:prstGeom prst="line">
            <a:avLst/>
          </a:prstGeom>
          <a:noFill/>
          <a:ln w="16510">
            <a:solidFill>
              <a:srgbClr val="B88946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06392"/>
              </p:ext>
            </p:extLst>
          </p:nvPr>
        </p:nvGraphicFramePr>
        <p:xfrm>
          <a:off x="731520" y="1417320"/>
          <a:ext cx="6035040" cy="429768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채팅방 목록, 메시지 조회, 메시지 전송, 메시지 숨김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댓글·좋아요·팔로우 관련 알림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스폰서 광고 목록, 광고 슬라이드, 광고 저장, 광고 상세 이동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테이블 설계, 샘플 데이터 구성, Data Pump 백업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1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8277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설계서, SQL 백업, README, PPT, 시연영상 정리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EAD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6819EAA-2B8D-9129-316E-DD1DAA114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772" y="1321984"/>
            <a:ext cx="3180803" cy="172987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97FFFEB-B9DB-5412-7343-88DB57E0F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5803" y="2759036"/>
            <a:ext cx="3528498" cy="209421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F01D2FA-F237-4323-281A-B8438F650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808" y="4246397"/>
            <a:ext cx="3684730" cy="2107073"/>
          </a:xfrm>
          <a:prstGeom prst="rect">
            <a:avLst/>
          </a:prstGeom>
        </p:spPr>
      </p:pic>
      <p:pic>
        <p:nvPicPr>
          <p:cNvPr id="9" name="Image 1" descr="/mnt/data/fb004f2f-d837-40c4-b6ec-d983261782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1" y="6136966"/>
            <a:ext cx="3886200" cy="5997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6D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393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제시 ⑤ 시연 동영상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1161288"/>
            <a:ext cx="11109960" cy="0"/>
          </a:xfrm>
          <a:prstGeom prst="line">
            <a:avLst/>
          </a:prstGeom>
          <a:noFill/>
          <a:ln w="16510">
            <a:solidFill>
              <a:srgbClr val="B889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417320"/>
            <a:ext cx="6766560" cy="4251960"/>
          </a:xfrm>
          <a:prstGeom prst="roundRect">
            <a:avLst>
              <a:gd name="adj" fmla="val 3871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1719072"/>
            <a:ext cx="6217920" cy="3611880"/>
          </a:xfrm>
          <a:prstGeom prst="roundRect">
            <a:avLst>
              <a:gd name="adj" fmla="val 3038"/>
            </a:avLst>
          </a:prstGeom>
          <a:solidFill>
            <a:srgbClr val="24364A"/>
          </a:solidFill>
          <a:ln w="12700">
            <a:solidFill>
              <a:srgbClr val="2436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03904" y="2907792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46804" y="3223259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909560" y="1417320"/>
            <a:ext cx="3429000" cy="4251960"/>
          </a:xfrm>
          <a:prstGeom prst="roundRect">
            <a:avLst>
              <a:gd name="adj" fmla="val 4800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83880" y="1700784"/>
            <a:ext cx="1143000" cy="274320"/>
          </a:xfrm>
          <a:prstGeom prst="roundRect">
            <a:avLst>
              <a:gd name="adj" fmla="val 33333"/>
            </a:avLst>
          </a:prstGeom>
          <a:solidFill>
            <a:srgbClr val="FFF0F5"/>
          </a:solidFill>
          <a:ln w="12700">
            <a:solidFill>
              <a:srgbClr val="EAD4DB">
                <a:alpha val="9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57032" y="1760220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83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순서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0" y="2148840"/>
            <a:ext cx="2816352" cy="2150000"/>
          </a:xfrm>
          <a:prstGeom prst="rect">
            <a:avLst/>
          </a:prstGeom>
          <a:noFill/>
          <a:ln/>
        </p:spPr>
        <p:txBody>
          <a:bodyPr wrap="square" lIns="254" tIns="0" rIns="254" bIns="0" rtlCol="0" anchor="ctr">
            <a:normAutofit/>
          </a:bodyPr>
          <a:lstStyle/>
          <a:p>
            <a:pPr marL="0" indent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회원가입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유형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선택</a:t>
            </a:r>
            <a:endParaRPr lang="en-US" sz="1400" dirty="0"/>
          </a:p>
          <a:p>
            <a:pPr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로그인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/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홈피드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확인</a:t>
            </a:r>
            <a:endParaRPr sz="1400" dirty="0">
              <a:solidFill>
                <a:srgbClr val="523D53"/>
              </a:solidFill>
              <a:latin typeface="Malgun Gothic"/>
            </a:endParaRPr>
          </a:p>
          <a:p>
            <a:pPr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한국어·영어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버전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확인</a:t>
            </a:r>
            <a:endParaRPr sz="1400" dirty="0">
              <a:solidFill>
                <a:srgbClr val="523D53"/>
              </a:solidFill>
              <a:latin typeface="Malgun Gothic"/>
            </a:endParaRPr>
          </a:p>
          <a:p>
            <a:pPr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피드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상세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/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댓글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/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좋아요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/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저장</a:t>
            </a:r>
            <a:endParaRPr sz="1400" dirty="0">
              <a:solidFill>
                <a:srgbClr val="523D53"/>
              </a:solidFill>
              <a:latin typeface="Malgun Gothic"/>
            </a:endParaRPr>
          </a:p>
          <a:p>
            <a:pPr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프로필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및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팔로우</a:t>
            </a:r>
            <a:endParaRPr sz="1400" dirty="0">
              <a:solidFill>
                <a:srgbClr val="523D53"/>
              </a:solidFill>
              <a:latin typeface="Malgun Gothic"/>
            </a:endParaRPr>
          </a:p>
          <a:p>
            <a:pPr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스토리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등록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및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관리</a:t>
            </a:r>
            <a:endParaRPr sz="1400" dirty="0">
              <a:solidFill>
                <a:srgbClr val="523D53"/>
              </a:solidFill>
              <a:latin typeface="Malgun Gothic"/>
            </a:endParaRPr>
          </a:p>
          <a:p>
            <a:pPr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523D53"/>
                </a:solidFill>
                <a:latin typeface="Malgun Gothic"/>
              </a:rPr>
              <a:t>•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채팅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/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알림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/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광고</a:t>
            </a:r>
            <a:r>
              <a:rPr sz="1400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400" dirty="0" err="1">
                <a:solidFill>
                  <a:srgbClr val="523D53"/>
                </a:solidFill>
                <a:latin typeface="Malgun Gothic"/>
              </a:rPr>
              <a:t>확인</a:t>
            </a:r>
            <a:endParaRPr sz="1400" dirty="0">
              <a:solidFill>
                <a:srgbClr val="523D53"/>
              </a:solidFill>
              <a:latin typeface="Malgun Gothic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68680" y="5897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27785"/>
                </a:solidFill>
              </a:rPr>
              <a:t>발표 PPT 및 시연 영상 링크는 README 산출물 영역에 추가 예정입니다.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8404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6D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393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1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평가 의견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1161288"/>
            <a:ext cx="11109960" cy="0"/>
          </a:xfrm>
          <a:prstGeom prst="line">
            <a:avLst/>
          </a:prstGeom>
          <a:noFill/>
          <a:ln w="16510">
            <a:solidFill>
              <a:srgbClr val="B889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508760"/>
            <a:ext cx="4892040" cy="1444752"/>
          </a:xfrm>
          <a:prstGeom prst="roundRect">
            <a:avLst>
              <a:gd name="adj" fmla="val 1139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42416" y="17465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9839B"/>
                </a:solidFill>
              </a:rPr>
              <a:t>완성도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2167128" y="19751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1200" b="1" dirty="0">
                <a:solidFill>
                  <a:srgbClr val="2D2143"/>
                </a:solidFill>
              </a:rPr>
              <a:t>사진</a:t>
            </a:r>
            <a:r>
              <a:rPr lang="en-US" altLang="ko-KR" sz="1200" b="1" dirty="0">
                <a:solidFill>
                  <a:srgbClr val="2D2143"/>
                </a:solidFill>
              </a:rPr>
              <a:t> 중</a:t>
            </a:r>
            <a:r>
              <a:rPr lang="ko-KR" altLang="en-US" sz="1200" b="1" dirty="0">
                <a:solidFill>
                  <a:srgbClr val="2D2143"/>
                </a:solidFill>
              </a:rPr>
              <a:t>심</a:t>
            </a:r>
            <a:r>
              <a:rPr lang="en-US" altLang="ko-KR" sz="1200" b="1" dirty="0">
                <a:solidFill>
                  <a:srgbClr val="2D2143"/>
                </a:solidFill>
              </a:rPr>
              <a:t> SNS</a:t>
            </a:r>
            <a:r>
              <a:rPr lang="ko-KR" altLang="en-US" sz="1200" b="1" dirty="0">
                <a:solidFill>
                  <a:srgbClr val="2D2143"/>
                </a:solidFill>
              </a:rPr>
              <a:t>에</a:t>
            </a:r>
            <a:r>
              <a:rPr lang="en-US" altLang="ko-KR" sz="1200" b="1" dirty="0">
                <a:solidFill>
                  <a:srgbClr val="2D2143"/>
                </a:solidFill>
              </a:rPr>
              <a:t> 여</a:t>
            </a:r>
            <a:r>
              <a:rPr lang="ko-KR" altLang="en-US" sz="1200" b="1" dirty="0">
                <a:solidFill>
                  <a:srgbClr val="2D2143"/>
                </a:solidFill>
              </a:rPr>
              <a:t>행</a:t>
            </a:r>
            <a:r>
              <a:rPr lang="en-US" altLang="ko-KR" sz="1200" b="1" dirty="0">
                <a:solidFill>
                  <a:srgbClr val="2D2143"/>
                </a:solidFill>
              </a:rPr>
              <a:t> 루</a:t>
            </a:r>
            <a:r>
              <a:rPr lang="ko-KR" altLang="en-US" sz="1200" b="1" dirty="0">
                <a:solidFill>
                  <a:srgbClr val="2D2143"/>
                </a:solidFill>
              </a:rPr>
              <a:t>트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정</a:t>
            </a:r>
            <a:r>
              <a:rPr lang="en-US" altLang="ko-KR" sz="1200" b="1" dirty="0">
                <a:solidFill>
                  <a:srgbClr val="2D2143"/>
                </a:solidFill>
              </a:rPr>
              <a:t>보</a:t>
            </a:r>
            <a:r>
              <a:rPr lang="ko-KR" altLang="en-US" sz="1200" b="1" dirty="0">
                <a:solidFill>
                  <a:srgbClr val="2D2143"/>
                </a:solidFill>
              </a:rPr>
              <a:t>를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결합</a:t>
            </a:r>
            <a:r>
              <a:rPr lang="en-US" altLang="ko-KR" sz="1200" b="1" dirty="0">
                <a:solidFill>
                  <a:srgbClr val="2D2143"/>
                </a:solidFill>
              </a:rPr>
              <a:t>하</a:t>
            </a:r>
            <a:r>
              <a:rPr lang="ko-KR" altLang="en-US" sz="1200" b="1" dirty="0">
                <a:solidFill>
                  <a:srgbClr val="2D2143"/>
                </a:solidFill>
              </a:rPr>
              <a:t>여</a:t>
            </a:r>
            <a:r>
              <a:rPr lang="en-US" altLang="ko-KR" sz="1200" b="1" dirty="0">
                <a:solidFill>
                  <a:srgbClr val="2D2143"/>
                </a:solidFill>
              </a:rPr>
              <a:t>, </a:t>
            </a:r>
            <a:r>
              <a:rPr lang="ko-KR" altLang="en-US" sz="1200" b="1" dirty="0">
                <a:solidFill>
                  <a:srgbClr val="2D2143"/>
                </a:solidFill>
              </a:rPr>
              <a:t>사용자가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한국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여행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경험을</a:t>
            </a:r>
            <a:r>
              <a:rPr lang="en-US" altLang="ko-KR" sz="1200" b="1" dirty="0">
                <a:solidFill>
                  <a:srgbClr val="2D2143"/>
                </a:solidFill>
              </a:rPr>
              <a:t> 더 </a:t>
            </a:r>
            <a:r>
              <a:rPr lang="ko-KR" altLang="en-US" sz="1200" b="1" dirty="0">
                <a:solidFill>
                  <a:srgbClr val="2D2143"/>
                </a:solidFill>
              </a:rPr>
              <a:t>자세히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공유할</a:t>
            </a:r>
            <a:r>
              <a:rPr lang="en-US" altLang="ko-KR" sz="1200" b="1" dirty="0">
                <a:solidFill>
                  <a:srgbClr val="2D2143"/>
                </a:solidFill>
              </a:rPr>
              <a:t> 수 </a:t>
            </a:r>
            <a:r>
              <a:rPr lang="ko-KR" altLang="en-US" sz="1200" b="1" dirty="0">
                <a:solidFill>
                  <a:srgbClr val="2D2143"/>
                </a:solidFill>
              </a:rPr>
              <a:t>있도록 구현했습니다</a:t>
            </a:r>
            <a:r>
              <a:rPr lang="en-US" altLang="ko-KR" sz="1200" b="1" dirty="0">
                <a:solidFill>
                  <a:srgbClr val="2D2143"/>
                </a:solidFill>
              </a:rPr>
              <a:t>.</a:t>
            </a:r>
            <a:endParaRPr lang="en-US" altLang="ko-KR" sz="1200" b="1" dirty="0"/>
          </a:p>
          <a:p>
            <a:r>
              <a:rPr lang="en-US" altLang="ko-KR" sz="1200" b="1" dirty="0">
                <a:solidFill>
                  <a:srgbClr val="2D2143"/>
                </a:solidFill>
              </a:rPr>
              <a:t>· </a:t>
            </a:r>
            <a:r>
              <a:rPr lang="ko-KR" altLang="en-US" sz="1200" b="1" dirty="0" err="1">
                <a:solidFill>
                  <a:srgbClr val="2D2143"/>
                </a:solidFill>
              </a:rPr>
              <a:t>피드</a:t>
            </a:r>
            <a:r>
              <a:rPr lang="en-US" altLang="ko-KR" sz="1200" b="1" dirty="0">
                <a:solidFill>
                  <a:srgbClr val="2D2143"/>
                </a:solidFill>
              </a:rPr>
              <a:t> + </a:t>
            </a:r>
            <a:r>
              <a:rPr lang="ko-KR" altLang="en-US" sz="1200" b="1" dirty="0">
                <a:solidFill>
                  <a:srgbClr val="2D2143"/>
                </a:solidFill>
              </a:rPr>
              <a:t>루트</a:t>
            </a:r>
            <a:r>
              <a:rPr lang="en-US" altLang="ko-KR" sz="1200" b="1" dirty="0">
                <a:solidFill>
                  <a:srgbClr val="2D2143"/>
                </a:solidFill>
              </a:rPr>
              <a:t> + </a:t>
            </a:r>
            <a:r>
              <a:rPr lang="ko-KR" altLang="en-US" sz="1200" b="1" dirty="0">
                <a:solidFill>
                  <a:srgbClr val="2D2143"/>
                </a:solidFill>
              </a:rPr>
              <a:t>장소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메모를</a:t>
            </a:r>
            <a:r>
              <a:rPr lang="en-US" altLang="ko-KR" sz="1200" b="1" dirty="0">
                <a:solidFill>
                  <a:srgbClr val="2D2143"/>
                </a:solidFill>
              </a:rPr>
              <a:t> 함</a:t>
            </a:r>
            <a:r>
              <a:rPr lang="ko-KR" altLang="en-US" sz="1200" b="1" dirty="0">
                <a:solidFill>
                  <a:srgbClr val="2D2143"/>
                </a:solidFill>
              </a:rPr>
              <a:t>께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제공</a:t>
            </a:r>
            <a:endParaRPr lang="en-US" altLang="ko-KR" sz="1200" b="1" dirty="0"/>
          </a:p>
          <a:p>
            <a:r>
              <a:rPr lang="en-US" altLang="ko-KR" sz="1200" b="1" dirty="0">
                <a:solidFill>
                  <a:srgbClr val="2D2143"/>
                </a:solidFill>
              </a:rPr>
              <a:t>· </a:t>
            </a:r>
            <a:r>
              <a:rPr lang="ko-KR" altLang="en-US" sz="1200" b="1" dirty="0">
                <a:solidFill>
                  <a:srgbClr val="2D2143"/>
                </a:solidFill>
              </a:rPr>
              <a:t>스토리로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짧은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여행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기록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ko-KR" altLang="en-US" sz="1200" b="1" dirty="0">
                <a:solidFill>
                  <a:srgbClr val="2D2143"/>
                </a:solidFill>
              </a:rPr>
              <a:t>공유</a:t>
            </a:r>
            <a:endParaRPr lang="en-US" altLang="ko-KR" sz="1200" b="1" dirty="0"/>
          </a:p>
        </p:txBody>
      </p:sp>
      <p:sp>
        <p:nvSpPr>
          <p:cNvPr id="12" name="Shape 9"/>
          <p:cNvSpPr/>
          <p:nvPr/>
        </p:nvSpPr>
        <p:spPr>
          <a:xfrm>
            <a:off x="6190488" y="1508760"/>
            <a:ext cx="4892040" cy="1444752"/>
          </a:xfrm>
          <a:prstGeom prst="roundRect">
            <a:avLst>
              <a:gd name="adj" fmla="val 11392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0"/>
          <p:cNvSpPr/>
          <p:nvPr/>
        </p:nvSpPr>
        <p:spPr>
          <a:xfrm>
            <a:off x="6483096" y="17465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9839B"/>
                </a:solidFill>
              </a:rPr>
              <a:t>차별점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542493" y="195910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dirty="0" err="1">
                <a:solidFill>
                  <a:srgbClr val="523D53"/>
                </a:solidFill>
                <a:latin typeface="Malgun Gothic"/>
              </a:rPr>
              <a:t>한국</a:t>
            </a:r>
            <a:r>
              <a:rPr sz="1200" b="1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523D53"/>
                </a:solidFill>
                <a:latin typeface="Malgun Gothic"/>
              </a:rPr>
              <a:t>여행</a:t>
            </a:r>
            <a:r>
              <a:rPr sz="1200" b="1" dirty="0">
                <a:solidFill>
                  <a:srgbClr val="523D53"/>
                </a:solidFill>
                <a:latin typeface="Malgun Gothic"/>
              </a:rPr>
              <a:t> SNS </a:t>
            </a:r>
            <a:r>
              <a:rPr sz="1200" b="1" dirty="0" err="1">
                <a:solidFill>
                  <a:srgbClr val="523D53"/>
                </a:solidFill>
                <a:latin typeface="Malgun Gothic"/>
              </a:rPr>
              <a:t>콘셉트에</a:t>
            </a:r>
            <a:endParaRPr lang="en-US" sz="1200" dirty="0"/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523D53"/>
                </a:solidFill>
                <a:latin typeface="Malgun Gothic"/>
              </a:rPr>
              <a:t>루트</a:t>
            </a:r>
            <a:r>
              <a:rPr sz="1200" b="1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523D53"/>
                </a:solidFill>
                <a:latin typeface="Malgun Gothic"/>
              </a:rPr>
              <a:t>정보</a:t>
            </a:r>
            <a:r>
              <a:rPr sz="1200" b="1" dirty="0">
                <a:solidFill>
                  <a:srgbClr val="523D53"/>
                </a:solidFill>
                <a:latin typeface="Malgun Gothic"/>
              </a:rPr>
              <a:t>, 3가지 </a:t>
            </a:r>
            <a:r>
              <a:rPr sz="1200" b="1" dirty="0" err="1">
                <a:solidFill>
                  <a:srgbClr val="523D53"/>
                </a:solidFill>
                <a:latin typeface="Malgun Gothic"/>
              </a:rPr>
              <a:t>회원</a:t>
            </a:r>
            <a:r>
              <a:rPr sz="1200" b="1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523D53"/>
                </a:solidFill>
                <a:latin typeface="Malgun Gothic"/>
              </a:rPr>
              <a:t>유형</a:t>
            </a:r>
            <a:r>
              <a:rPr sz="1200" b="1" dirty="0">
                <a:solidFill>
                  <a:srgbClr val="523D53"/>
                </a:solidFill>
                <a:latin typeface="Malgun Gothic"/>
              </a:rPr>
              <a:t>,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523D53"/>
                </a:solidFill>
                <a:latin typeface="Malgun Gothic"/>
              </a:rPr>
              <a:t>한국어</a:t>
            </a:r>
            <a:r>
              <a:rPr sz="1200" b="1" dirty="0">
                <a:solidFill>
                  <a:srgbClr val="523D53"/>
                </a:solidFill>
                <a:latin typeface="Malgun Gothic"/>
              </a:rPr>
              <a:t>/</a:t>
            </a:r>
            <a:r>
              <a:rPr sz="1200" b="1" dirty="0" err="1">
                <a:solidFill>
                  <a:srgbClr val="523D53"/>
                </a:solidFill>
                <a:latin typeface="Malgun Gothic"/>
              </a:rPr>
              <a:t>영어</a:t>
            </a:r>
            <a:r>
              <a:rPr sz="1200" b="1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523D53"/>
                </a:solidFill>
                <a:latin typeface="Malgun Gothic"/>
              </a:rPr>
              <a:t>지원을</a:t>
            </a:r>
            <a:r>
              <a:rPr sz="1200" b="1" dirty="0">
                <a:solidFill>
                  <a:srgbClr val="523D53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523D53"/>
                </a:solidFill>
                <a:latin typeface="Malgun Gothic"/>
              </a:rPr>
              <a:t>결합했습니다</a:t>
            </a:r>
            <a:r>
              <a:rPr sz="1200" b="1" dirty="0">
                <a:solidFill>
                  <a:srgbClr val="523D53"/>
                </a:solidFill>
                <a:latin typeface="Malgun Gothic"/>
              </a:rPr>
              <a:t>.</a:t>
            </a:r>
          </a:p>
        </p:txBody>
      </p:sp>
      <p:sp>
        <p:nvSpPr>
          <p:cNvPr id="15" name="Shape 12"/>
          <p:cNvSpPr/>
          <p:nvPr/>
        </p:nvSpPr>
        <p:spPr>
          <a:xfrm>
            <a:off x="749808" y="3566160"/>
            <a:ext cx="4892040" cy="1444752"/>
          </a:xfrm>
          <a:prstGeom prst="roundRect">
            <a:avLst>
              <a:gd name="adj" fmla="val 1139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42416" y="38039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50" b="1" dirty="0">
                <a:solidFill>
                  <a:srgbClr val="E9839B"/>
                </a:solidFill>
              </a:rPr>
              <a:t>느낀</a:t>
            </a:r>
            <a:r>
              <a:rPr lang="en-US" sz="1550" b="1" dirty="0">
                <a:solidFill>
                  <a:srgbClr val="E9839B"/>
                </a:solidFill>
              </a:rPr>
              <a:t> 점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2167128" y="3992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ko-KR" sz="1200" b="1" dirty="0"/>
              <a:t>K-</a:t>
            </a:r>
            <a:r>
              <a:rPr lang="ko-KR" altLang="ko-KR" sz="1200" b="1" dirty="0" err="1"/>
              <a:t>STEP을</a:t>
            </a:r>
            <a:r>
              <a:rPr lang="ko-KR" altLang="ko-KR" sz="1200" b="1" dirty="0"/>
              <a:t> 만들며 SNS 기능들이 서로 연결되는 과정을 이해할 수 있었고, 단순한 구현보다 사용자가 자연스럽게 사용할 수 있는 흐름을 만드는 것이 중요하다는 점을 배웠습니다.</a:t>
            </a:r>
            <a:endParaRPr lang="en-US" sz="1200" b="1" dirty="0"/>
          </a:p>
        </p:txBody>
      </p:sp>
      <p:sp>
        <p:nvSpPr>
          <p:cNvPr id="18" name="Shape 15"/>
          <p:cNvSpPr/>
          <p:nvPr/>
        </p:nvSpPr>
        <p:spPr>
          <a:xfrm>
            <a:off x="6190488" y="3566160"/>
            <a:ext cx="4892040" cy="1444752"/>
          </a:xfrm>
          <a:prstGeom prst="roundRect">
            <a:avLst>
              <a:gd name="adj" fmla="val 11392"/>
            </a:avLst>
          </a:prstGeom>
          <a:solidFill>
            <a:srgbClr val="FFF7FA">
              <a:alpha val="98000"/>
            </a:srgbClr>
          </a:solidFill>
          <a:ln w="12700">
            <a:solidFill>
              <a:srgbClr val="EAD4DB">
                <a:alpha val="95000"/>
              </a:srgbClr>
            </a:solidFill>
            <a:prstDash val="solid"/>
          </a:ln>
          <a:effectLst>
            <a:outerShdw blurRad="12700" dist="50800" dir="2700000" algn="bl" rotWithShape="0">
              <a:srgbClr val="7C5A6A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83096" y="38039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9839B"/>
                </a:solidFill>
              </a:rPr>
              <a:t>개선점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607808" y="39730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1200" dirty="0">
                <a:solidFill>
                  <a:srgbClr val="2D2143"/>
                </a:solidFill>
              </a:rPr>
              <a:t>· </a:t>
            </a:r>
            <a:r>
              <a:rPr lang="ko-KR" altLang="en-US" sz="1200" b="1" dirty="0">
                <a:solidFill>
                  <a:srgbClr val="2D2143"/>
                </a:solidFill>
              </a:rPr>
              <a:t>이메일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en-US" altLang="ko-KR" sz="1200" b="1" dirty="0" err="1">
                <a:solidFill>
                  <a:srgbClr val="2D2143"/>
                </a:solidFill>
              </a:rPr>
              <a:t>인증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en-US" altLang="ko-KR" sz="1200" b="1" dirty="0" err="1">
                <a:solidFill>
                  <a:srgbClr val="2D2143"/>
                </a:solidFill>
              </a:rPr>
              <a:t>기반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en-US" altLang="ko-KR" sz="1200" b="1" dirty="0" err="1">
                <a:solidFill>
                  <a:srgbClr val="2D2143"/>
                </a:solidFill>
              </a:rPr>
              <a:t>비밀번호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en-US" altLang="ko-KR" sz="1200" b="1" dirty="0" err="1">
                <a:solidFill>
                  <a:srgbClr val="2D2143"/>
                </a:solidFill>
              </a:rPr>
              <a:t>찾기</a:t>
            </a:r>
            <a:endParaRPr lang="en-US" altLang="ko-KR" sz="1200" b="1" dirty="0"/>
          </a:p>
          <a:p>
            <a:r>
              <a:rPr lang="en-US" altLang="ko-KR" sz="1200" b="1" dirty="0">
                <a:solidFill>
                  <a:srgbClr val="2D2143"/>
                </a:solidFill>
              </a:rPr>
              <a:t>· </a:t>
            </a:r>
            <a:r>
              <a:rPr lang="en-US" altLang="ko-KR" sz="1200" b="1" dirty="0" err="1">
                <a:solidFill>
                  <a:srgbClr val="2D2143"/>
                </a:solidFill>
              </a:rPr>
              <a:t>실시간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en-US" altLang="ko-KR" sz="1200" b="1" dirty="0" err="1">
                <a:solidFill>
                  <a:srgbClr val="2D2143"/>
                </a:solidFill>
              </a:rPr>
              <a:t>채팅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en-US" altLang="ko-KR" sz="1200" b="1" dirty="0" err="1">
                <a:solidFill>
                  <a:srgbClr val="2D2143"/>
                </a:solidFill>
              </a:rPr>
              <a:t>고도화</a:t>
            </a:r>
            <a:endParaRPr lang="en-US" altLang="ko-KR" sz="1200" b="1" dirty="0"/>
          </a:p>
          <a:p>
            <a:r>
              <a:rPr lang="en-US" altLang="ko-KR" sz="1200" b="1" dirty="0">
                <a:solidFill>
                  <a:srgbClr val="2D2143"/>
                </a:solidFill>
              </a:rPr>
              <a:t>· </a:t>
            </a:r>
            <a:r>
              <a:rPr lang="en-US" altLang="ko-KR" sz="1200" b="1" dirty="0" err="1">
                <a:solidFill>
                  <a:srgbClr val="2D2143"/>
                </a:solidFill>
              </a:rPr>
              <a:t>지도</a:t>
            </a:r>
            <a:r>
              <a:rPr lang="en-US" altLang="ko-KR" sz="1200" b="1" dirty="0">
                <a:solidFill>
                  <a:srgbClr val="2D2143"/>
                </a:solidFill>
              </a:rPr>
              <a:t> API </a:t>
            </a:r>
            <a:r>
              <a:rPr lang="en-US" altLang="ko-KR" sz="1200" b="1" dirty="0" err="1">
                <a:solidFill>
                  <a:srgbClr val="2D2143"/>
                </a:solidFill>
              </a:rPr>
              <a:t>기반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en-US" altLang="ko-KR" sz="1200" b="1" dirty="0" err="1">
                <a:solidFill>
                  <a:srgbClr val="2D2143"/>
                </a:solidFill>
              </a:rPr>
              <a:t>루트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en-US" altLang="ko-KR" sz="1200" b="1" dirty="0" err="1">
                <a:solidFill>
                  <a:srgbClr val="2D2143"/>
                </a:solidFill>
              </a:rPr>
              <a:t>시각화</a:t>
            </a:r>
            <a:endParaRPr lang="en-US" altLang="ko-KR" sz="1200" b="1" dirty="0"/>
          </a:p>
          <a:p>
            <a:r>
              <a:rPr lang="en-US" altLang="ko-KR" sz="1200" b="1" dirty="0">
                <a:solidFill>
                  <a:srgbClr val="2D2143"/>
                </a:solidFill>
              </a:rPr>
              <a:t>· </a:t>
            </a:r>
            <a:r>
              <a:rPr lang="en-US" altLang="ko-KR" sz="1200" b="1" dirty="0" err="1">
                <a:solidFill>
                  <a:srgbClr val="2D2143"/>
                </a:solidFill>
              </a:rPr>
              <a:t>관리자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en-US" altLang="ko-KR" sz="1200" b="1" dirty="0" err="1">
                <a:solidFill>
                  <a:srgbClr val="2D2143"/>
                </a:solidFill>
              </a:rPr>
              <a:t>기능</a:t>
            </a:r>
            <a:r>
              <a:rPr lang="en-US" altLang="ko-KR" sz="1200" b="1" dirty="0">
                <a:solidFill>
                  <a:srgbClr val="2D2143"/>
                </a:solidFill>
              </a:rPr>
              <a:t> 및 </a:t>
            </a:r>
            <a:r>
              <a:rPr lang="en-US" altLang="ko-KR" sz="1200" b="1" dirty="0" err="1">
                <a:solidFill>
                  <a:srgbClr val="2D2143"/>
                </a:solidFill>
              </a:rPr>
              <a:t>신고</a:t>
            </a:r>
            <a:r>
              <a:rPr lang="en-US" altLang="ko-KR" sz="1200" b="1" dirty="0">
                <a:solidFill>
                  <a:srgbClr val="2D2143"/>
                </a:solidFill>
              </a:rPr>
              <a:t>/</a:t>
            </a:r>
            <a:r>
              <a:rPr lang="en-US" altLang="ko-KR" sz="1200" b="1" dirty="0" err="1">
                <a:solidFill>
                  <a:srgbClr val="2D2143"/>
                </a:solidFill>
              </a:rPr>
              <a:t>차단</a:t>
            </a:r>
            <a:r>
              <a:rPr lang="en-US" altLang="ko-KR" sz="1200" b="1" dirty="0">
                <a:solidFill>
                  <a:srgbClr val="2D2143"/>
                </a:solidFill>
              </a:rPr>
              <a:t> </a:t>
            </a:r>
            <a:r>
              <a:rPr lang="en-US" altLang="ko-KR" sz="1200" b="1" dirty="0" err="1">
                <a:solidFill>
                  <a:srgbClr val="2D2143"/>
                </a:solidFill>
              </a:rPr>
              <a:t>강화</a:t>
            </a:r>
            <a:endParaRPr lang="en-US" altLang="ko-KR" sz="1200" b="1" dirty="0"/>
          </a:p>
        </p:txBody>
      </p:sp>
      <p:sp>
        <p:nvSpPr>
          <p:cNvPr id="23" name="Text 20"/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81195-B82A-0C3A-8D15-E8F1C91BA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oft_elegant_pastel_background_illustration_wit.png">
            <a:extLst>
              <a:ext uri="{FF2B5EF4-FFF2-40B4-BE49-F238E27FC236}">
                <a16:creationId xmlns:a16="http://schemas.microsoft.com/office/drawing/2014/main" id="{2504CD91-F6D0-F8AA-D537-0F2ADAA9817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E30A0E0-DD55-E452-F6EB-EA5BD09FE92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EB64A6B-2F90-C9D1-0DB8-E2087D23134D}"/>
              </a:ext>
            </a:extLst>
          </p:cNvPr>
          <p:cNvSpPr/>
          <p:nvPr/>
        </p:nvSpPr>
        <p:spPr>
          <a:xfrm>
            <a:off x="11045952" y="6345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8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3907CD4-2EBA-77D3-9C92-B074B2197B3E}"/>
              </a:ext>
            </a:extLst>
          </p:cNvPr>
          <p:cNvGrpSpPr/>
          <p:nvPr/>
        </p:nvGrpSpPr>
        <p:grpSpPr>
          <a:xfrm>
            <a:off x="3180730" y="2027097"/>
            <a:ext cx="5297140" cy="2226280"/>
            <a:chOff x="3180730" y="2046767"/>
            <a:chExt cx="5297140" cy="2226280"/>
          </a:xfrm>
        </p:grpSpPr>
        <p:sp>
          <p:nvSpPr>
            <p:cNvPr id="21" name="Text 0">
              <a:extLst>
                <a:ext uri="{FF2B5EF4-FFF2-40B4-BE49-F238E27FC236}">
                  <a16:creationId xmlns:a16="http://schemas.microsoft.com/office/drawing/2014/main" id="{73A9DE03-163F-03A6-E12B-48087723667D}"/>
                </a:ext>
              </a:extLst>
            </p:cNvPr>
            <p:cNvSpPr/>
            <p:nvPr/>
          </p:nvSpPr>
          <p:spPr>
            <a:xfrm>
              <a:off x="3180730" y="2046767"/>
              <a:ext cx="52971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7200" b="1" dirty="0">
                  <a:solidFill>
                    <a:srgbClr val="30363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Thank You</a:t>
              </a:r>
              <a:endParaRPr lang="en-US" sz="7200" dirty="0"/>
            </a:p>
          </p:txBody>
        </p:sp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CA91AA7D-60F5-C246-58BD-2F769688047A}"/>
                </a:ext>
              </a:extLst>
            </p:cNvPr>
            <p:cNvSpPr/>
            <p:nvPr/>
          </p:nvSpPr>
          <p:spPr>
            <a:xfrm>
              <a:off x="4171507" y="3460720"/>
              <a:ext cx="3620386" cy="8123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4400" b="1" dirty="0" err="1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감사합니다</a:t>
              </a:r>
              <a:endParaRPr lang="en-US" sz="4400" b="1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6800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985</Words>
  <Application>Microsoft Office PowerPoint</Application>
  <PresentationFormat>와이드스크린</PresentationFormat>
  <Paragraphs>219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K-STEP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K-STEP 프로젝트 결과 발표자료</dc:title>
  <dc:subject>K-STEP 프로젝트 결과 발표자료</dc:subject>
  <dc:creator>K-STEP</dc:creator>
  <cp:lastModifiedBy>다빈 이</cp:lastModifiedBy>
  <cp:revision>6</cp:revision>
  <dcterms:created xsi:type="dcterms:W3CDTF">2026-06-09T07:30:51Z</dcterms:created>
  <dcterms:modified xsi:type="dcterms:W3CDTF">2026-06-14T12:13:49Z</dcterms:modified>
</cp:coreProperties>
</file>